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6" r:id="rId11"/>
    <p:sldId id="267" r:id="rId12"/>
    <p:sldId id="268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47569C-8558-45EC-9DFA-370D4DDBF614}" v="35" dt="2025-11-16T16:29:55.5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준희 이" userId="43be8fa91af62367" providerId="LiveId" clId="{49CA757C-B7B8-4674-A64D-370A60E5A9F4}"/>
    <pc:docChg chg="undo custSel addSld modSld">
      <pc:chgData name="준희 이" userId="43be8fa91af62367" providerId="LiveId" clId="{49CA757C-B7B8-4674-A64D-370A60E5A9F4}" dt="2025-11-16T16:31:49.108" v="252" actId="5793"/>
      <pc:docMkLst>
        <pc:docMk/>
      </pc:docMkLst>
      <pc:sldChg chg="modSp mod">
        <pc:chgData name="준희 이" userId="43be8fa91af62367" providerId="LiveId" clId="{49CA757C-B7B8-4674-A64D-370A60E5A9F4}" dt="2025-11-10T06:12:29.473" v="1" actId="27636"/>
        <pc:sldMkLst>
          <pc:docMk/>
          <pc:sldMk cId="3693949607" sldId="256"/>
        </pc:sldMkLst>
        <pc:spChg chg="mod">
          <ac:chgData name="준희 이" userId="43be8fa91af62367" providerId="LiveId" clId="{49CA757C-B7B8-4674-A64D-370A60E5A9F4}" dt="2025-11-10T06:12:29.473" v="1" actId="27636"/>
          <ac:spMkLst>
            <pc:docMk/>
            <pc:sldMk cId="3693949607" sldId="256"/>
            <ac:spMk id="3" creationId="{006A997C-3B4D-EE55-3A66-2898DD19504B}"/>
          </ac:spMkLst>
        </pc:spChg>
      </pc:sldChg>
      <pc:sldChg chg="modSp mod">
        <pc:chgData name="준희 이" userId="43be8fa91af62367" providerId="LiveId" clId="{49CA757C-B7B8-4674-A64D-370A60E5A9F4}" dt="2025-11-10T06:34:13.569" v="210"/>
        <pc:sldMkLst>
          <pc:docMk/>
          <pc:sldMk cId="1180390300" sldId="261"/>
        </pc:sldMkLst>
        <pc:spChg chg="mod">
          <ac:chgData name="준희 이" userId="43be8fa91af62367" providerId="LiveId" clId="{49CA757C-B7B8-4674-A64D-370A60E5A9F4}" dt="2025-11-10T06:34:13.569" v="210"/>
          <ac:spMkLst>
            <pc:docMk/>
            <pc:sldMk cId="1180390300" sldId="261"/>
            <ac:spMk id="3" creationId="{113474EB-C201-9C19-4B07-9E2917AB5AEF}"/>
          </ac:spMkLst>
        </pc:spChg>
      </pc:sldChg>
      <pc:sldChg chg="modSp mod">
        <pc:chgData name="준희 이" userId="43be8fa91af62367" providerId="LiveId" clId="{49CA757C-B7B8-4674-A64D-370A60E5A9F4}" dt="2025-11-10T06:24:52.123" v="178" actId="20577"/>
        <pc:sldMkLst>
          <pc:docMk/>
          <pc:sldMk cId="621602039" sldId="263"/>
        </pc:sldMkLst>
        <pc:spChg chg="mod">
          <ac:chgData name="준희 이" userId="43be8fa91af62367" providerId="LiveId" clId="{49CA757C-B7B8-4674-A64D-370A60E5A9F4}" dt="2025-11-10T06:24:52.123" v="178" actId="20577"/>
          <ac:spMkLst>
            <pc:docMk/>
            <pc:sldMk cId="621602039" sldId="263"/>
            <ac:spMk id="2" creationId="{6DE5A06C-8858-AA42-9980-6497685406EA}"/>
          </ac:spMkLst>
        </pc:spChg>
      </pc:sldChg>
      <pc:sldChg chg="modSp mod">
        <pc:chgData name="준희 이" userId="43be8fa91af62367" providerId="LiveId" clId="{49CA757C-B7B8-4674-A64D-370A60E5A9F4}" dt="2025-11-10T06:25:18" v="194" actId="20577"/>
        <pc:sldMkLst>
          <pc:docMk/>
          <pc:sldMk cId="471143981" sldId="265"/>
        </pc:sldMkLst>
        <pc:spChg chg="mod">
          <ac:chgData name="준희 이" userId="43be8fa91af62367" providerId="LiveId" clId="{49CA757C-B7B8-4674-A64D-370A60E5A9F4}" dt="2025-11-10T06:25:18" v="194" actId="20577"/>
          <ac:spMkLst>
            <pc:docMk/>
            <pc:sldMk cId="471143981" sldId="265"/>
            <ac:spMk id="3" creationId="{196469FC-265D-A117-81DD-60D2966F3D24}"/>
          </ac:spMkLst>
        </pc:spChg>
      </pc:sldChg>
      <pc:sldChg chg="addSp delSp modSp new mod">
        <pc:chgData name="준희 이" userId="43be8fa91af62367" providerId="LiveId" clId="{49CA757C-B7B8-4674-A64D-370A60E5A9F4}" dt="2025-11-10T06:19:17.677" v="57" actId="1076"/>
        <pc:sldMkLst>
          <pc:docMk/>
          <pc:sldMk cId="1791327920" sldId="266"/>
        </pc:sldMkLst>
        <pc:spChg chg="mod">
          <ac:chgData name="준희 이" userId="43be8fa91af62367" providerId="LiveId" clId="{49CA757C-B7B8-4674-A64D-370A60E5A9F4}" dt="2025-11-10T06:14:10.284" v="18" actId="20577"/>
          <ac:spMkLst>
            <pc:docMk/>
            <pc:sldMk cId="1791327920" sldId="266"/>
            <ac:spMk id="2" creationId="{AA6EA3BA-9020-1FB4-721D-2B1D7A9B63CC}"/>
          </ac:spMkLst>
        </pc:spChg>
        <pc:spChg chg="add mod">
          <ac:chgData name="준희 이" userId="43be8fa91af62367" providerId="LiveId" clId="{49CA757C-B7B8-4674-A64D-370A60E5A9F4}" dt="2025-11-10T06:18:53.202" v="50" actId="1076"/>
          <ac:spMkLst>
            <pc:docMk/>
            <pc:sldMk cId="1791327920" sldId="266"/>
            <ac:spMk id="7" creationId="{06ECF266-954B-C12C-804A-B21BACA927D5}"/>
          </ac:spMkLst>
        </pc:spChg>
        <pc:spChg chg="add mod">
          <ac:chgData name="준희 이" userId="43be8fa91af62367" providerId="LiveId" clId="{49CA757C-B7B8-4674-A64D-370A60E5A9F4}" dt="2025-11-10T06:19:17.677" v="57" actId="1076"/>
          <ac:spMkLst>
            <pc:docMk/>
            <pc:sldMk cId="1791327920" sldId="266"/>
            <ac:spMk id="8" creationId="{C373C07F-8B6F-3957-2DB1-FB6D5081CB12}"/>
          </ac:spMkLst>
        </pc:spChg>
        <pc:picChg chg="add mod modCrop">
          <ac:chgData name="준희 이" userId="43be8fa91af62367" providerId="LiveId" clId="{49CA757C-B7B8-4674-A64D-370A60E5A9F4}" dt="2025-11-10T06:18:44.405" v="47" actId="1076"/>
          <ac:picMkLst>
            <pc:docMk/>
            <pc:sldMk cId="1791327920" sldId="266"/>
            <ac:picMk id="4" creationId="{8FE3D3F1-ED3A-E746-C009-E270C745536D}"/>
          </ac:picMkLst>
        </pc:picChg>
        <pc:picChg chg="add mod">
          <ac:chgData name="준희 이" userId="43be8fa91af62367" providerId="LiveId" clId="{49CA757C-B7B8-4674-A64D-370A60E5A9F4}" dt="2025-11-10T06:18:54.748" v="51" actId="1076"/>
          <ac:picMkLst>
            <pc:docMk/>
            <pc:sldMk cId="1791327920" sldId="266"/>
            <ac:picMk id="5" creationId="{96D75D76-80D0-59C2-118B-F0140EFB3F48}"/>
          </ac:picMkLst>
        </pc:picChg>
      </pc:sldChg>
      <pc:sldChg chg="addSp delSp modSp new mod">
        <pc:chgData name="준희 이" userId="43be8fa91af62367" providerId="LiveId" clId="{49CA757C-B7B8-4674-A64D-370A60E5A9F4}" dt="2025-11-10T06:20:45.695" v="74" actId="404"/>
        <pc:sldMkLst>
          <pc:docMk/>
          <pc:sldMk cId="1678732534" sldId="267"/>
        </pc:sldMkLst>
        <pc:spChg chg="mod">
          <ac:chgData name="준희 이" userId="43be8fa91af62367" providerId="LiveId" clId="{49CA757C-B7B8-4674-A64D-370A60E5A9F4}" dt="2025-11-10T06:19:24.570" v="59"/>
          <ac:spMkLst>
            <pc:docMk/>
            <pc:sldMk cId="1678732534" sldId="267"/>
            <ac:spMk id="2" creationId="{C8585EAA-99FD-556D-C1BB-C6572F1D00A0}"/>
          </ac:spMkLst>
        </pc:spChg>
        <pc:spChg chg="add mod">
          <ac:chgData name="준희 이" userId="43be8fa91af62367" providerId="LiveId" clId="{49CA757C-B7B8-4674-A64D-370A60E5A9F4}" dt="2025-11-10T06:20:09.370" v="66" actId="20577"/>
          <ac:spMkLst>
            <pc:docMk/>
            <pc:sldMk cId="1678732534" sldId="267"/>
            <ac:spMk id="5" creationId="{C137BDA2-5AFA-DA21-C15C-AF799545F829}"/>
          </ac:spMkLst>
        </pc:spChg>
        <pc:spChg chg="add mod">
          <ac:chgData name="준희 이" userId="43be8fa91af62367" providerId="LiveId" clId="{49CA757C-B7B8-4674-A64D-370A60E5A9F4}" dt="2025-11-10T06:20:45.695" v="74" actId="404"/>
          <ac:spMkLst>
            <pc:docMk/>
            <pc:sldMk cId="1678732534" sldId="267"/>
            <ac:spMk id="7" creationId="{2078C54C-9D4D-C897-4246-0F7E961840D7}"/>
          </ac:spMkLst>
        </pc:spChg>
        <pc:picChg chg="add mod">
          <ac:chgData name="준희 이" userId="43be8fa91af62367" providerId="LiveId" clId="{49CA757C-B7B8-4674-A64D-370A60E5A9F4}" dt="2025-11-10T06:19:45.591" v="63" actId="1076"/>
          <ac:picMkLst>
            <pc:docMk/>
            <pc:sldMk cId="1678732534" sldId="267"/>
            <ac:picMk id="4" creationId="{6CE661B0-598E-ED5E-2A81-476DF5319ECD}"/>
          </ac:picMkLst>
        </pc:picChg>
        <pc:picChg chg="add mod">
          <ac:chgData name="준희 이" userId="43be8fa91af62367" providerId="LiveId" clId="{49CA757C-B7B8-4674-A64D-370A60E5A9F4}" dt="2025-11-10T06:20:21.213" v="69" actId="14100"/>
          <ac:picMkLst>
            <pc:docMk/>
            <pc:sldMk cId="1678732534" sldId="267"/>
            <ac:picMk id="6" creationId="{A41FBCF1-ACE9-0DC4-8F6D-E9A965257718}"/>
          </ac:picMkLst>
        </pc:picChg>
      </pc:sldChg>
      <pc:sldChg chg="addSp delSp modSp new mod">
        <pc:chgData name="준희 이" userId="43be8fa91af62367" providerId="LiveId" clId="{49CA757C-B7B8-4674-A64D-370A60E5A9F4}" dt="2025-11-10T06:22:24.276" v="101" actId="1076"/>
        <pc:sldMkLst>
          <pc:docMk/>
          <pc:sldMk cId="2825024181" sldId="268"/>
        </pc:sldMkLst>
        <pc:spChg chg="mod">
          <ac:chgData name="준희 이" userId="43be8fa91af62367" providerId="LiveId" clId="{49CA757C-B7B8-4674-A64D-370A60E5A9F4}" dt="2025-11-10T06:20:59.533" v="76"/>
          <ac:spMkLst>
            <pc:docMk/>
            <pc:sldMk cId="2825024181" sldId="268"/>
            <ac:spMk id="2" creationId="{C20E74BB-00EC-2208-1940-8CBE4AE59B96}"/>
          </ac:spMkLst>
        </pc:spChg>
        <pc:spChg chg="add mod">
          <ac:chgData name="준희 이" userId="43be8fa91af62367" providerId="LiveId" clId="{49CA757C-B7B8-4674-A64D-370A60E5A9F4}" dt="2025-11-10T06:21:37.888" v="89" actId="404"/>
          <ac:spMkLst>
            <pc:docMk/>
            <pc:sldMk cId="2825024181" sldId="268"/>
            <ac:spMk id="5" creationId="{72270A80-3686-8AC9-1402-7356EAE7F61E}"/>
          </ac:spMkLst>
        </pc:spChg>
        <pc:spChg chg="add mod">
          <ac:chgData name="준희 이" userId="43be8fa91af62367" providerId="LiveId" clId="{49CA757C-B7B8-4674-A64D-370A60E5A9F4}" dt="2025-11-10T06:22:24.276" v="101" actId="1076"/>
          <ac:spMkLst>
            <pc:docMk/>
            <pc:sldMk cId="2825024181" sldId="268"/>
            <ac:spMk id="7" creationId="{9E086C83-0E73-B6F9-1565-8EA839BA3226}"/>
          </ac:spMkLst>
        </pc:spChg>
        <pc:picChg chg="add mod">
          <ac:chgData name="준희 이" userId="43be8fa91af62367" providerId="LiveId" clId="{49CA757C-B7B8-4674-A64D-370A60E5A9F4}" dt="2025-11-10T06:21:09.683" v="80" actId="1076"/>
          <ac:picMkLst>
            <pc:docMk/>
            <pc:sldMk cId="2825024181" sldId="268"/>
            <ac:picMk id="4" creationId="{63291D13-8F89-42F1-BD7A-23633D5AA830}"/>
          </ac:picMkLst>
        </pc:picChg>
        <pc:picChg chg="add mod modCrop">
          <ac:chgData name="준희 이" userId="43be8fa91af62367" providerId="LiveId" clId="{49CA757C-B7B8-4674-A64D-370A60E5A9F4}" dt="2025-11-10T06:22:05.485" v="95" actId="1076"/>
          <ac:picMkLst>
            <pc:docMk/>
            <pc:sldMk cId="2825024181" sldId="268"/>
            <ac:picMk id="6" creationId="{896A9EC1-F6D0-8787-1D35-26171B63F310}"/>
          </ac:picMkLst>
        </pc:picChg>
      </pc:sldChg>
      <pc:sldChg chg="modSp new mod">
        <pc:chgData name="준희 이" userId="43be8fa91af62367" providerId="LiveId" clId="{49CA757C-B7B8-4674-A64D-370A60E5A9F4}" dt="2025-11-16T16:31:49.108" v="252" actId="5793"/>
        <pc:sldMkLst>
          <pc:docMk/>
          <pc:sldMk cId="2628340960" sldId="269"/>
        </pc:sldMkLst>
        <pc:spChg chg="mod">
          <ac:chgData name="준희 이" userId="43be8fa91af62367" providerId="LiveId" clId="{49CA757C-B7B8-4674-A64D-370A60E5A9F4}" dt="2025-11-16T10:05:45.164" v="218"/>
          <ac:spMkLst>
            <pc:docMk/>
            <pc:sldMk cId="2628340960" sldId="269"/>
            <ac:spMk id="2" creationId="{75FB29F5-32C4-9B6A-388C-9870FF27014E}"/>
          </ac:spMkLst>
        </pc:spChg>
        <pc:spChg chg="mod">
          <ac:chgData name="준희 이" userId="43be8fa91af62367" providerId="LiveId" clId="{49CA757C-B7B8-4674-A64D-370A60E5A9F4}" dt="2025-11-16T16:31:49.108" v="252" actId="5793"/>
          <ac:spMkLst>
            <pc:docMk/>
            <pc:sldMk cId="2628340960" sldId="269"/>
            <ac:spMk id="3" creationId="{E861232D-1EB3-C6A8-63A2-6CD95D6CE9F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618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5057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ko-KR" alt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406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3231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8098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2332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2835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1256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592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993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2987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6DBDA9D4-CAAA-4C0A-A7A6-B112A65B1D58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55612B49-25B8-4C67-AD62-6F007232FB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8377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1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1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1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1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1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1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1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1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1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edro1210/mykingdom-rl/tree/main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7">
            <a:extLst>
              <a:ext uri="{FF2B5EF4-FFF2-40B4-BE49-F238E27FC236}">
                <a16:creationId xmlns:a16="http://schemas.microsoft.com/office/drawing/2014/main" id="{C3D25154-9EF7-4C33-9AAC-7B3BE089FE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88952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FFC50AA-20FB-E0FC-BC4A-4DC12E27A4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1560" y="643468"/>
            <a:ext cx="9966960" cy="3592432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MyKingdom</a:t>
            </a:r>
            <a:endParaRPr lang="ko-KR" altLang="en-US" dirty="0"/>
          </a:p>
        </p:txBody>
      </p:sp>
      <p:sp>
        <p:nvSpPr>
          <p:cNvPr id="20" name="Rectangle 9">
            <a:extLst>
              <a:ext uri="{FF2B5EF4-FFF2-40B4-BE49-F238E27FC236}">
                <a16:creationId xmlns:a16="http://schemas.microsoft.com/office/drawing/2014/main" id="{1604E8C0-C927-4C06-A96A-BF3323BA7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72000"/>
            <a:ext cx="12192000" cy="2295831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6A997C-3B4D-EE55-3A66-2898DD195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9848" y="4913336"/>
            <a:ext cx="7891272" cy="1069848"/>
          </a:xfrm>
        </p:spPr>
        <p:txBody>
          <a:bodyPr>
            <a:normAutofit lnSpcReduction="10000"/>
          </a:bodyPr>
          <a:lstStyle/>
          <a:p>
            <a:r>
              <a:rPr lang="ko-KR" altLang="en-US" dirty="0">
                <a:solidFill>
                  <a:srgbClr val="000000"/>
                </a:solidFill>
              </a:rPr>
              <a:t>이준희 </a:t>
            </a:r>
            <a:r>
              <a:rPr lang="en-US" altLang="ko-KR" dirty="0">
                <a:solidFill>
                  <a:srgbClr val="000000"/>
                </a:solidFill>
              </a:rPr>
              <a:t>(20201627)</a:t>
            </a:r>
          </a:p>
          <a:p>
            <a:r>
              <a:rPr lang="en-US" altLang="ko-KR" dirty="0" err="1">
                <a:solidFill>
                  <a:srgbClr val="000000"/>
                </a:solidFill>
              </a:rPr>
              <a:t>Github</a:t>
            </a:r>
            <a:r>
              <a:rPr lang="en-US" altLang="ko-KR" dirty="0">
                <a:solidFill>
                  <a:srgbClr val="000000"/>
                </a:solidFill>
              </a:rPr>
              <a:t> link : </a:t>
            </a:r>
            <a:r>
              <a:rPr lang="en-US" altLang="ko-KR" dirty="0">
                <a:hlinkClick r:id="rId3"/>
              </a:rPr>
              <a:t>bedro1210/</a:t>
            </a:r>
            <a:r>
              <a:rPr lang="en-US" altLang="ko-KR" dirty="0" err="1">
                <a:hlinkClick r:id="rId3"/>
              </a:rPr>
              <a:t>mykingdom-rl</a:t>
            </a:r>
            <a:r>
              <a:rPr lang="en-US" altLang="ko-KR" dirty="0">
                <a:hlinkClick r:id="rId3"/>
              </a:rPr>
              <a:t>: Self-play reinforcement learning agent for Othello (6x6)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grpSp>
        <p:nvGrpSpPr>
          <p:cNvPr id="21" name="Group 11">
            <a:extLst>
              <a:ext uri="{FF2B5EF4-FFF2-40B4-BE49-F238E27FC236}">
                <a16:creationId xmlns:a16="http://schemas.microsoft.com/office/drawing/2014/main" id="{9DCECFD5-4C30-4892-9FF0-540E17955A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45590" y="5111496"/>
            <a:ext cx="1080904" cy="1080902"/>
            <a:chOff x="10245590" y="5111496"/>
            <a:chExt cx="1080904" cy="1080902"/>
          </a:xfrm>
        </p:grpSpPr>
        <p:sp>
          <p:nvSpPr>
            <p:cNvPr id="22" name="Oval 12">
              <a:extLst>
                <a:ext uri="{FF2B5EF4-FFF2-40B4-BE49-F238E27FC236}">
                  <a16:creationId xmlns:a16="http://schemas.microsoft.com/office/drawing/2014/main" id="{95C67F70-EAFE-425C-8422-591620A96D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5590" y="5111496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23" name="Oval 13">
              <a:extLst>
                <a:ext uri="{FF2B5EF4-FFF2-40B4-BE49-F238E27FC236}">
                  <a16:creationId xmlns:a16="http://schemas.microsoft.com/office/drawing/2014/main" id="{D47FA16B-C217-4D91-84EA-5B0846BDDA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53681" y="5219586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3949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CBB090-3F34-8F7B-3058-106703DC3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761661-487A-D4A3-B518-4206A51CB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자기 대전을 통한 강화학습</a:t>
            </a:r>
            <a:r>
              <a:rPr lang="en-US" altLang="ko-KR" dirty="0"/>
              <a:t>(Self-Play Reinforcement Learning)</a:t>
            </a:r>
            <a:r>
              <a:rPr lang="ko-KR" altLang="en-US" dirty="0"/>
              <a:t>을 이용한 </a:t>
            </a:r>
            <a:r>
              <a:rPr lang="en-US" altLang="ko-KR" dirty="0"/>
              <a:t>6×6 </a:t>
            </a:r>
            <a:r>
              <a:rPr lang="ko-KR" altLang="en-US" dirty="0" err="1"/>
              <a:t>오셀로</a:t>
            </a:r>
            <a:r>
              <a:rPr lang="ko-KR" altLang="en-US" dirty="0"/>
              <a:t> </a:t>
            </a:r>
            <a:r>
              <a:rPr lang="en-US" altLang="ko-KR" dirty="0"/>
              <a:t>AI </a:t>
            </a:r>
            <a:r>
              <a:rPr lang="ko-KR" altLang="en-US" dirty="0"/>
              <a:t>개발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목표</a:t>
            </a:r>
            <a:r>
              <a:rPr lang="en-US" altLang="ko-KR" b="1" dirty="0"/>
              <a:t>:</a:t>
            </a:r>
            <a:endParaRPr lang="ko-KR" altLang="en-US" dirty="0"/>
          </a:p>
          <a:p>
            <a:pPr>
              <a:buFontTx/>
              <a:buChar char="-"/>
            </a:pPr>
            <a:r>
              <a:rPr lang="en-US" altLang="ko-KR" dirty="0"/>
              <a:t>Monte Carlo Tree Search(MCTS)</a:t>
            </a:r>
            <a:r>
              <a:rPr lang="ko-KR" altLang="en-US" dirty="0"/>
              <a:t>와 정책</a:t>
            </a:r>
            <a:r>
              <a:rPr lang="en-US" altLang="ko-KR" dirty="0"/>
              <a:t>·</a:t>
            </a:r>
            <a:r>
              <a:rPr lang="ko-KR" altLang="en-US" dirty="0"/>
              <a:t>가치망을 결합한 강화학습 구조 구현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Self-play</a:t>
            </a:r>
            <a:r>
              <a:rPr lang="ko-KR" altLang="en-US" dirty="0"/>
              <a:t>를 통해 스스로 데이터를 생성하고 전략을 학습하는 </a:t>
            </a:r>
            <a:r>
              <a:rPr lang="en-US" altLang="ko-KR" dirty="0"/>
              <a:t>AI </a:t>
            </a:r>
            <a:r>
              <a:rPr lang="ko-KR" altLang="en-US" dirty="0"/>
              <a:t>제작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학습 모델을 기반으로 다양한 상대</a:t>
            </a:r>
            <a:r>
              <a:rPr lang="en-US" altLang="ko-KR" dirty="0"/>
              <a:t>(</a:t>
            </a:r>
            <a:r>
              <a:rPr lang="ko-KR" altLang="en-US" dirty="0"/>
              <a:t>랜덤</a:t>
            </a:r>
            <a:r>
              <a:rPr lang="en-US" altLang="ko-KR" dirty="0"/>
              <a:t>, </a:t>
            </a:r>
            <a:r>
              <a:rPr lang="ko-KR" altLang="en-US" dirty="0"/>
              <a:t>휴리스틱</a:t>
            </a:r>
            <a:r>
              <a:rPr lang="en-US" altLang="ko-KR" dirty="0"/>
              <a:t>, </a:t>
            </a:r>
            <a:r>
              <a:rPr lang="ko-KR" altLang="en-US" dirty="0"/>
              <a:t>인간</a:t>
            </a:r>
            <a:r>
              <a:rPr lang="en-US" altLang="ko-KR" dirty="0"/>
              <a:t>)</a:t>
            </a:r>
            <a:r>
              <a:rPr lang="ko-KR" altLang="en-US" dirty="0"/>
              <a:t>와의 대전 평가 수행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6561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FB29F5-32C4-9B6A-388C-9870FF270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오셀로</a:t>
            </a:r>
            <a:r>
              <a:rPr lang="en-US" altLang="ko-KR" dirty="0"/>
              <a:t>(Othello) </a:t>
            </a:r>
            <a:r>
              <a:rPr lang="ko-KR" altLang="en-US" dirty="0"/>
              <a:t>게임 소개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61232D-1EB3-C6A8-63A2-6CD95D6CE9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ko-KR" altLang="en-US" b="1" dirty="0" err="1"/>
              <a:t>오셀로</a:t>
            </a:r>
            <a:r>
              <a:rPr lang="en-US" altLang="ko-KR" b="1" dirty="0"/>
              <a:t>(Othello)</a:t>
            </a:r>
            <a:r>
              <a:rPr lang="ko-KR" altLang="en-US" b="1" dirty="0"/>
              <a:t> </a:t>
            </a:r>
            <a:r>
              <a:rPr lang="en-US" altLang="ko-KR" b="1" dirty="0"/>
              <a:t>:</a:t>
            </a:r>
            <a:r>
              <a:rPr lang="ko-KR" altLang="en-US" b="1" dirty="0"/>
              <a:t>  </a:t>
            </a:r>
            <a:r>
              <a:rPr lang="ko-KR" altLang="en-US" dirty="0"/>
              <a:t>두 플레이어가 번갈아 돌을 두며 상대 돌을 </a:t>
            </a:r>
            <a:r>
              <a:rPr lang="ko-KR" altLang="en-US" b="1" dirty="0"/>
              <a:t>뒤집어</a:t>
            </a:r>
            <a:r>
              <a:rPr lang="ko-KR" altLang="en-US" dirty="0"/>
              <a:t> 자신의 색으로 만들어가는 게임</a:t>
            </a:r>
          </a:p>
          <a:p>
            <a:endParaRPr lang="en-US" altLang="ko-KR" dirty="0"/>
          </a:p>
          <a:p>
            <a:pPr>
              <a:buNone/>
            </a:pPr>
            <a:r>
              <a:rPr lang="ko-KR" altLang="en-US" b="1" dirty="0"/>
              <a:t>기본 규칙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플레이어는 흑</a:t>
            </a:r>
            <a:r>
              <a:rPr lang="en-US" altLang="ko-KR" dirty="0"/>
              <a:t>(Black) </a:t>
            </a:r>
            <a:r>
              <a:rPr lang="ko-KR" altLang="en-US" dirty="0"/>
              <a:t>또는 백</a:t>
            </a:r>
            <a:r>
              <a:rPr lang="en-US" altLang="ko-KR" dirty="0"/>
              <a:t>(White)</a:t>
            </a:r>
            <a:r>
              <a:rPr lang="ko-KR" altLang="en-US" dirty="0"/>
              <a:t>의 돌을 사용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자신의 돌로 </a:t>
            </a:r>
            <a:r>
              <a:rPr lang="ko-KR" altLang="en-US" b="1" dirty="0"/>
              <a:t>상대 돌을 양쪽에서 샌드위치 형태로 끼우면 </a:t>
            </a:r>
            <a:r>
              <a:rPr lang="ko-KR" altLang="en-US" dirty="0"/>
              <a:t>그 사이에 있는 상대 돌을 모두 뒤집어 자기 돌로 만든다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한 번에 여러 방향</a:t>
            </a:r>
            <a:r>
              <a:rPr lang="en-US" altLang="ko-KR" dirty="0"/>
              <a:t>(</a:t>
            </a:r>
            <a:r>
              <a:rPr lang="ko-KR" altLang="en-US" dirty="0"/>
              <a:t>가로</a:t>
            </a:r>
            <a:r>
              <a:rPr lang="en-US" altLang="ko-KR" dirty="0"/>
              <a:t>, </a:t>
            </a:r>
            <a:r>
              <a:rPr lang="ko-KR" altLang="en-US" dirty="0"/>
              <a:t>세로</a:t>
            </a:r>
            <a:r>
              <a:rPr lang="en-US" altLang="ko-KR" dirty="0"/>
              <a:t>, </a:t>
            </a:r>
            <a:r>
              <a:rPr lang="ko-KR" altLang="en-US" dirty="0"/>
              <a:t>대각선</a:t>
            </a:r>
            <a:r>
              <a:rPr lang="en-US" altLang="ko-KR" dirty="0"/>
              <a:t>)</a:t>
            </a:r>
            <a:r>
              <a:rPr lang="ko-KR" altLang="en-US" dirty="0"/>
              <a:t>으로 뒤집을 수 있음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유효한 수가 없으면 </a:t>
            </a:r>
            <a:r>
              <a:rPr lang="en-US" altLang="ko-KR" b="1" dirty="0"/>
              <a:t>PASS</a:t>
            </a:r>
            <a:r>
              <a:rPr lang="ko-KR" altLang="en-US" dirty="0"/>
              <a:t>해야 하며</a:t>
            </a:r>
            <a:r>
              <a:rPr lang="en-US" altLang="ko-KR" dirty="0"/>
              <a:t>, </a:t>
            </a:r>
            <a:r>
              <a:rPr lang="ko-KR" altLang="en-US" dirty="0"/>
              <a:t>양쪽 모두 </a:t>
            </a:r>
            <a:r>
              <a:rPr lang="en-US" altLang="ko-KR" dirty="0"/>
              <a:t>PASS </a:t>
            </a:r>
            <a:r>
              <a:rPr lang="ko-KR" altLang="en-US" dirty="0"/>
              <a:t>시 게임 종료</a:t>
            </a:r>
          </a:p>
          <a:p>
            <a:pPr>
              <a:buNone/>
            </a:pPr>
            <a:br>
              <a:rPr lang="ko-KR" altLang="en-US" dirty="0"/>
            </a:br>
            <a:endParaRPr lang="ko-KR" altLang="en-US" dirty="0"/>
          </a:p>
          <a:p>
            <a:pPr>
              <a:buNone/>
            </a:pPr>
            <a:r>
              <a:rPr lang="ko-KR" altLang="en-US" b="1" dirty="0"/>
              <a:t>게임 종료 및 승패 판정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보드가 꽉 차거나</a:t>
            </a:r>
            <a:r>
              <a:rPr lang="en-US" altLang="ko-KR" dirty="0"/>
              <a:t>, </a:t>
            </a:r>
            <a:r>
              <a:rPr lang="ko-KR" altLang="en-US" dirty="0"/>
              <a:t>양 플레이어가 모두 둘 곳이 없으면 종료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최종적으로 </a:t>
            </a:r>
            <a:r>
              <a:rPr lang="ko-KR" altLang="en-US" b="1" dirty="0"/>
              <a:t>보드 위 돌의 개수가 더 많은 플레이어가 승리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8340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6820E-AAFF-3636-2CC9-15D6E491E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 및 데이터셋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800BC-BE1D-61CB-D868-C3A1F3D14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b="1" dirty="0"/>
              <a:t>환경</a:t>
            </a:r>
            <a:endParaRPr lang="en-US" altLang="ko-KR" b="1" dirty="0"/>
          </a:p>
          <a:p>
            <a:pPr>
              <a:buFontTx/>
              <a:buChar char="-"/>
            </a:pPr>
            <a:r>
              <a:rPr lang="en-US" altLang="ko-KR" dirty="0"/>
              <a:t>OS: Windows 11</a:t>
            </a:r>
          </a:p>
          <a:p>
            <a:pPr>
              <a:buFontTx/>
              <a:buChar char="-"/>
            </a:pPr>
            <a:r>
              <a:rPr lang="en-US" altLang="ko-KR" dirty="0"/>
              <a:t>Python 3.10</a:t>
            </a:r>
          </a:p>
          <a:p>
            <a:pPr>
              <a:buFontTx/>
              <a:buChar char="-"/>
            </a:pPr>
            <a:r>
              <a:rPr lang="ko-KR" altLang="en-US" dirty="0"/>
              <a:t>주요 라이브러리</a:t>
            </a:r>
            <a:r>
              <a:rPr lang="en-US" altLang="ko-KR" dirty="0"/>
              <a:t>: </a:t>
            </a:r>
            <a:r>
              <a:rPr lang="en-US" altLang="ko-KR" dirty="0" err="1"/>
              <a:t>PyTorch</a:t>
            </a:r>
            <a:r>
              <a:rPr lang="en-US" altLang="ko-KR" dirty="0"/>
              <a:t>, NumPy, </a:t>
            </a:r>
            <a:r>
              <a:rPr lang="en-US" altLang="ko-KR" dirty="0" err="1"/>
              <a:t>tqdm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GPU : x</a:t>
            </a:r>
          </a:p>
          <a:p>
            <a:pPr>
              <a:buFontTx/>
              <a:buChar char="-"/>
            </a:pPr>
            <a:endParaRPr lang="en-US" altLang="ko-KR" dirty="0"/>
          </a:p>
          <a:p>
            <a:r>
              <a:rPr lang="ko-KR" altLang="en-US" b="1" dirty="0"/>
              <a:t>데이터 구성</a:t>
            </a:r>
            <a:endParaRPr lang="ko-KR" altLang="en-US" dirty="0"/>
          </a:p>
          <a:p>
            <a:pPr>
              <a:buFontTx/>
              <a:buChar char="-"/>
            </a:pPr>
            <a:r>
              <a:rPr lang="ko-KR" altLang="en-US" dirty="0"/>
              <a:t>외부 데이터셋 없음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모델이 자가 대전을 통해 직접 데이터</a:t>
            </a:r>
            <a:r>
              <a:rPr lang="en-US" altLang="ko-KR" dirty="0"/>
              <a:t>(state, policy, value)</a:t>
            </a:r>
            <a:r>
              <a:rPr lang="ko-KR" altLang="en-US" dirty="0"/>
              <a:t>를 생성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b="1" dirty="0"/>
              <a:t>6×6 </a:t>
            </a:r>
            <a:r>
              <a:rPr lang="ko-KR" altLang="en-US" b="1" dirty="0"/>
              <a:t>보드 환경</a:t>
            </a:r>
            <a:r>
              <a:rPr lang="ko-KR" altLang="en-US" dirty="0"/>
              <a:t>을 사용 </a:t>
            </a:r>
            <a:r>
              <a:rPr lang="en-US" altLang="ko-KR" dirty="0"/>
              <a:t>(</a:t>
            </a:r>
            <a:r>
              <a:rPr lang="ko-KR" altLang="en-US" dirty="0"/>
              <a:t>너무 크게는 설정 </a:t>
            </a:r>
            <a:r>
              <a:rPr lang="en-US" altLang="ko-KR" dirty="0"/>
              <a:t>x.</a:t>
            </a:r>
            <a:r>
              <a:rPr lang="ko-KR" altLang="en-US" dirty="0"/>
              <a:t> 학습 안정성 및 속도 확보 목적</a:t>
            </a:r>
            <a:r>
              <a:rPr lang="en-US" altLang="ko-KR" dirty="0"/>
              <a:t>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5361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14285E-F3EB-6F47-CE48-8C8E69EED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State, Action, Reward </a:t>
            </a:r>
            <a:r>
              <a:rPr lang="ko-KR" altLang="en-US" dirty="0"/>
              <a:t>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145C43-DD18-5DB7-853B-FA44C4963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b="1" dirty="0"/>
              <a:t>State</a:t>
            </a:r>
          </a:p>
          <a:p>
            <a:pPr>
              <a:buFontTx/>
              <a:buChar char="-"/>
            </a:pPr>
            <a:r>
              <a:rPr lang="ko-KR" altLang="en-US" dirty="0"/>
              <a:t>보드는 </a:t>
            </a:r>
            <a:r>
              <a:rPr lang="en-US" altLang="ko-KR" dirty="0"/>
              <a:t>6×6, +1=</a:t>
            </a:r>
            <a:r>
              <a:rPr lang="ko-KR" altLang="en-US" dirty="0"/>
              <a:t>내 돌</a:t>
            </a:r>
            <a:r>
              <a:rPr lang="en-US" altLang="ko-KR" dirty="0"/>
              <a:t>(</a:t>
            </a:r>
            <a:r>
              <a:rPr lang="ko-KR" altLang="en-US" dirty="0"/>
              <a:t>흑</a:t>
            </a:r>
            <a:r>
              <a:rPr lang="en-US" altLang="ko-KR" dirty="0"/>
              <a:t>), </a:t>
            </a:r>
            <a:r>
              <a:rPr lang="ko-KR" altLang="en-US" dirty="0"/>
              <a:t>−</a:t>
            </a:r>
            <a:r>
              <a:rPr lang="en-US" altLang="ko-KR" dirty="0"/>
              <a:t>1=</a:t>
            </a:r>
            <a:r>
              <a:rPr lang="ko-KR" altLang="en-US" dirty="0"/>
              <a:t>상대 돌</a:t>
            </a:r>
            <a:r>
              <a:rPr lang="en-US" altLang="ko-KR" dirty="0"/>
              <a:t>(</a:t>
            </a:r>
            <a:r>
              <a:rPr lang="ko-KR" altLang="en-US" dirty="0"/>
              <a:t>백</a:t>
            </a:r>
            <a:r>
              <a:rPr lang="en-US" altLang="ko-KR" dirty="0"/>
              <a:t>), 0=</a:t>
            </a:r>
            <a:r>
              <a:rPr lang="ko-KR" altLang="en-US" dirty="0"/>
              <a:t>빈칸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입력 시 항상 현재 플레이어 기준 정규화 </a:t>
            </a:r>
            <a:r>
              <a:rPr lang="en-US" altLang="ko-KR" dirty="0"/>
              <a:t>(canonical form)</a:t>
            </a:r>
          </a:p>
          <a:p>
            <a:pPr>
              <a:buFontTx/>
              <a:buChar char="-"/>
            </a:pPr>
            <a:endParaRPr lang="en-US" altLang="ko-KR" dirty="0"/>
          </a:p>
          <a:p>
            <a:r>
              <a:rPr lang="en-US" altLang="ko-KR" b="1" dirty="0"/>
              <a:t>Action</a:t>
            </a:r>
          </a:p>
          <a:p>
            <a:pPr>
              <a:buFontTx/>
              <a:buChar char="-"/>
            </a:pPr>
            <a:r>
              <a:rPr lang="ko-KR" altLang="en-US" dirty="0"/>
              <a:t>가능한 행동 수 </a:t>
            </a:r>
            <a:r>
              <a:rPr lang="en-US" altLang="ko-KR" dirty="0"/>
              <a:t>= 6×6 + 1 = 37</a:t>
            </a:r>
          </a:p>
          <a:p>
            <a:pPr>
              <a:buFontTx/>
              <a:buChar char="-"/>
            </a:pPr>
            <a:r>
              <a:rPr lang="ko-KR" altLang="en-US" dirty="0"/>
              <a:t>인덱스 </a:t>
            </a:r>
            <a:r>
              <a:rPr lang="en-US" altLang="ko-KR" dirty="0"/>
              <a:t>0~35 → </a:t>
            </a:r>
            <a:r>
              <a:rPr lang="ko-KR" altLang="en-US" dirty="0"/>
              <a:t>각 좌표 </a:t>
            </a:r>
            <a:r>
              <a:rPr lang="en-US" altLang="ko-KR" dirty="0"/>
              <a:t>(</a:t>
            </a:r>
            <a:r>
              <a:rPr lang="en-US" altLang="ko-KR" dirty="0" err="1"/>
              <a:t>r,c</a:t>
            </a:r>
            <a:r>
              <a:rPr lang="en-US" altLang="ko-KR" dirty="0"/>
              <a:t>), </a:t>
            </a:r>
            <a:r>
              <a:rPr lang="ko-KR" altLang="en-US" dirty="0"/>
              <a:t>마지막 인덱스 </a:t>
            </a:r>
            <a:r>
              <a:rPr lang="en-US" altLang="ko-KR" dirty="0"/>
              <a:t>36 → PASS</a:t>
            </a:r>
          </a:p>
          <a:p>
            <a:pPr>
              <a:buFontTx/>
              <a:buChar char="-"/>
            </a:pPr>
            <a:r>
              <a:rPr lang="ko-KR" altLang="en-US" dirty="0"/>
              <a:t>유효하지 않은 수는 마스크 처리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b="1" dirty="0"/>
              <a:t>Reward</a:t>
            </a:r>
          </a:p>
          <a:p>
            <a:pPr>
              <a:buFontTx/>
              <a:buChar char="-"/>
            </a:pPr>
            <a:r>
              <a:rPr lang="ko-KR" altLang="en-US" dirty="0"/>
              <a:t>스텝 보상 없음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게임 종료 시 돌 개수 차이에 따라 승</a:t>
            </a:r>
            <a:r>
              <a:rPr lang="en-US" altLang="ko-KR" dirty="0"/>
              <a:t>/</a:t>
            </a:r>
            <a:r>
              <a:rPr lang="ko-KR" altLang="en-US" dirty="0"/>
              <a:t>패 결정</a:t>
            </a:r>
          </a:p>
          <a:p>
            <a:pPr lvl="1"/>
            <a:r>
              <a:rPr lang="ko-KR" altLang="en-US" dirty="0"/>
              <a:t>승리</a:t>
            </a:r>
            <a:r>
              <a:rPr lang="en-US" altLang="ko-KR" dirty="0"/>
              <a:t>: +1, </a:t>
            </a:r>
            <a:r>
              <a:rPr lang="ko-KR" altLang="en-US" dirty="0"/>
              <a:t>패배</a:t>
            </a:r>
            <a:r>
              <a:rPr lang="en-US" altLang="ko-KR" dirty="0"/>
              <a:t>: −1, </a:t>
            </a:r>
            <a:r>
              <a:rPr lang="ko-KR" altLang="en-US" dirty="0"/>
              <a:t>무승부 없음</a:t>
            </a:r>
          </a:p>
          <a:p>
            <a:pPr marL="0" indent="0">
              <a:buNone/>
            </a:pPr>
            <a:endParaRPr lang="ko-KR" altLang="en-US" dirty="0"/>
          </a:p>
          <a:p>
            <a:pPr>
              <a:buFontTx/>
              <a:buChar char="-"/>
            </a:pP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5803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546CD8-2238-81F9-17D7-9F36EACD0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강화학습 알고리즘 및 </a:t>
            </a:r>
            <a:r>
              <a:rPr lang="ko-KR" altLang="en-US" sz="4400" dirty="0" err="1"/>
              <a:t>하이퍼파라미터</a:t>
            </a:r>
            <a:endParaRPr lang="ko-KR" altLang="en-US" sz="4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BADF85-D6EB-3126-4971-EA2DEFD524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학습 구조</a:t>
            </a:r>
            <a:endParaRPr lang="en-US" altLang="ko-KR" b="1" dirty="0"/>
          </a:p>
          <a:p>
            <a:pPr>
              <a:buFontTx/>
              <a:buChar char="-"/>
            </a:pPr>
            <a:r>
              <a:rPr lang="en-US" altLang="ko-KR" dirty="0"/>
              <a:t>Self-Play → Replay Buffer </a:t>
            </a:r>
            <a:r>
              <a:rPr lang="ko-KR" altLang="en-US" dirty="0"/>
              <a:t>생성 → </a:t>
            </a:r>
            <a:r>
              <a:rPr lang="en-US" altLang="ko-KR" dirty="0"/>
              <a:t>Neural Network </a:t>
            </a:r>
            <a:r>
              <a:rPr lang="ko-KR" altLang="en-US" dirty="0"/>
              <a:t>학습 → </a:t>
            </a:r>
            <a:r>
              <a:rPr lang="en-US" altLang="ko-KR" dirty="0"/>
              <a:t>Arena </a:t>
            </a:r>
            <a:r>
              <a:rPr lang="ko-KR" altLang="en-US" dirty="0"/>
              <a:t>평가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MCTS </a:t>
            </a:r>
            <a:r>
              <a:rPr lang="ko-KR" altLang="en-US" dirty="0"/>
              <a:t>탐색 기반 강화학습 루프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주요 </a:t>
            </a:r>
            <a:r>
              <a:rPr lang="ko-KR" altLang="en-US" dirty="0" err="1"/>
              <a:t>하이퍼파라미터</a:t>
            </a:r>
            <a:endParaRPr lang="ko-KR" altLang="en-US" dirty="0"/>
          </a:p>
          <a:p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D0E41DA-30A6-45BD-AA52-9F38A176D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1379635"/>
              </p:ext>
            </p:extLst>
          </p:nvPr>
        </p:nvGraphicFramePr>
        <p:xfrm>
          <a:off x="4963549" y="3429000"/>
          <a:ext cx="6058412" cy="2926080"/>
        </p:xfrm>
        <a:graphic>
          <a:graphicData uri="http://schemas.openxmlformats.org/drawingml/2006/table">
            <a:tbl>
              <a:tblPr/>
              <a:tblGrid>
                <a:gridCol w="3029206">
                  <a:extLst>
                    <a:ext uri="{9D8B030D-6E8A-4147-A177-3AD203B41FA5}">
                      <a16:colId xmlns:a16="http://schemas.microsoft.com/office/drawing/2014/main" val="3266730905"/>
                    </a:ext>
                  </a:extLst>
                </a:gridCol>
                <a:gridCol w="3029206">
                  <a:extLst>
                    <a:ext uri="{9D8B030D-6E8A-4147-A177-3AD203B41FA5}">
                      <a16:colId xmlns:a16="http://schemas.microsoft.com/office/drawing/2014/main" val="1848072869"/>
                    </a:ext>
                  </a:extLst>
                </a:gridCol>
              </a:tblGrid>
              <a:tr h="3185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131936"/>
                  </a:ext>
                </a:extLst>
              </a:tr>
              <a:tr h="3185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보드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6×6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190141"/>
                  </a:ext>
                </a:extLst>
              </a:tr>
              <a:tr h="3185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MCTS </a:t>
                      </a:r>
                      <a:r>
                        <a:rPr lang="ko-KR" altLang="en-US" dirty="0"/>
                        <a:t>시뮬레이션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200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724947"/>
                  </a:ext>
                </a:extLst>
              </a:tr>
              <a:tr h="3185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학습 </a:t>
                      </a:r>
                      <a:r>
                        <a:rPr lang="en-US" dirty="0"/>
                        <a:t>Epoch </a:t>
                      </a:r>
                      <a:r>
                        <a:rPr lang="ko-KR" altLang="en-US" dirty="0"/>
                        <a:t>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9580692"/>
                  </a:ext>
                </a:extLst>
              </a:tr>
              <a:tr h="3185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Batch 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1535562"/>
                  </a:ext>
                </a:extLst>
              </a:tr>
              <a:tr h="3185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Optimizer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Adam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0891972"/>
                  </a:ext>
                </a:extLst>
              </a:tr>
              <a:tr h="3185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Learning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0.001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56678"/>
                  </a:ext>
                </a:extLst>
              </a:tr>
              <a:tr h="3185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1.0 → 0.2 </a:t>
                      </a:r>
                      <a:r>
                        <a:rPr lang="ko-KR" altLang="en-US" dirty="0"/>
                        <a:t>점진 감소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1491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5698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C6EBDA-C12D-1AED-B166-73510A884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3474EB-C201-9C19-4B07-9E2917AB5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총 목표 </a:t>
            </a:r>
            <a:r>
              <a:rPr lang="en-US" altLang="ko-KR" b="1" dirty="0"/>
              <a:t>iteration:</a:t>
            </a:r>
            <a:r>
              <a:rPr lang="ko-KR" altLang="en-US" dirty="0"/>
              <a:t> </a:t>
            </a:r>
            <a:r>
              <a:rPr lang="en-US" altLang="ko-KR" dirty="0"/>
              <a:t>24</a:t>
            </a:r>
          </a:p>
          <a:p>
            <a:r>
              <a:rPr lang="ko-KR" altLang="en-US" b="1" dirty="0"/>
              <a:t>실제 완료 </a:t>
            </a:r>
            <a:r>
              <a:rPr lang="en-US" altLang="ko-KR" b="1" dirty="0"/>
              <a:t>iteration:</a:t>
            </a:r>
            <a:r>
              <a:rPr lang="ko-KR" altLang="en-US" dirty="0"/>
              <a:t> </a:t>
            </a:r>
            <a:r>
              <a:rPr lang="en-US" altLang="ko-KR" b="1" dirty="0"/>
              <a:t>17</a:t>
            </a:r>
            <a:r>
              <a:rPr lang="ko-KR" altLang="en-US" b="1" dirty="0"/>
              <a:t>회</a:t>
            </a:r>
            <a:endParaRPr lang="en-US" altLang="ko-KR" b="1" dirty="0"/>
          </a:p>
          <a:p>
            <a:r>
              <a:rPr lang="ko-KR" altLang="en-US" b="1" dirty="0"/>
              <a:t>학습 기간</a:t>
            </a:r>
            <a:r>
              <a:rPr lang="en-US" altLang="ko-KR" b="1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10</a:t>
            </a:r>
            <a:r>
              <a:rPr lang="ko-KR" altLang="en-US" dirty="0"/>
              <a:t>월 </a:t>
            </a:r>
            <a:r>
              <a:rPr lang="en-US" altLang="ko-KR" dirty="0"/>
              <a:t>31</a:t>
            </a:r>
            <a:r>
              <a:rPr lang="ko-KR" altLang="en-US" dirty="0"/>
              <a:t>일</a:t>
            </a:r>
            <a:r>
              <a:rPr lang="en-US" altLang="ko-KR" dirty="0"/>
              <a:t>(</a:t>
            </a:r>
            <a:r>
              <a:rPr lang="ko-KR" altLang="en-US" dirty="0"/>
              <a:t>금</a:t>
            </a:r>
            <a:r>
              <a:rPr lang="en-US" altLang="ko-KR" dirty="0"/>
              <a:t>) 16:00 ~ 11</a:t>
            </a:r>
            <a:r>
              <a:rPr lang="ko-KR" altLang="en-US" dirty="0"/>
              <a:t>월 </a:t>
            </a:r>
            <a:r>
              <a:rPr lang="en-US" altLang="ko-KR" dirty="0"/>
              <a:t>3</a:t>
            </a:r>
            <a:r>
              <a:rPr lang="ko-KR" altLang="en-US" dirty="0"/>
              <a:t>일</a:t>
            </a:r>
            <a:r>
              <a:rPr lang="en-US" altLang="ko-KR" dirty="0"/>
              <a:t>(</a:t>
            </a:r>
            <a:r>
              <a:rPr lang="ko-KR" altLang="en-US" dirty="0"/>
              <a:t>월</a:t>
            </a:r>
            <a:r>
              <a:rPr lang="en-US" altLang="ko-KR" dirty="0"/>
              <a:t>) 10:00 (</a:t>
            </a:r>
            <a:r>
              <a:rPr lang="ko-KR" altLang="en-US" dirty="0"/>
              <a:t>약 </a:t>
            </a:r>
            <a:r>
              <a:rPr lang="en-US" altLang="ko-KR" dirty="0"/>
              <a:t>66</a:t>
            </a:r>
            <a:r>
              <a:rPr lang="ko-KR" altLang="en-US" dirty="0"/>
              <a:t>시간 연속 학습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각 </a:t>
            </a:r>
            <a:r>
              <a:rPr lang="en-US" altLang="ko-KR" dirty="0"/>
              <a:t>iteration</a:t>
            </a:r>
            <a:r>
              <a:rPr lang="ko-KR" altLang="en-US" dirty="0"/>
              <a:t>마다 </a:t>
            </a:r>
            <a:r>
              <a:rPr lang="en-US" altLang="ko-KR" dirty="0"/>
              <a:t>self-play 80</a:t>
            </a:r>
            <a:r>
              <a:rPr lang="ko-KR" altLang="en-US" dirty="0"/>
              <a:t>회</a:t>
            </a:r>
            <a:r>
              <a:rPr lang="en-US" altLang="ko-KR" dirty="0"/>
              <a:t>, </a:t>
            </a:r>
            <a:r>
              <a:rPr lang="ko-KR" altLang="en-US" dirty="0"/>
              <a:t>학습 </a:t>
            </a:r>
            <a:r>
              <a:rPr lang="en-US" altLang="ko-KR" dirty="0"/>
              <a:t>10 epoch, Arena </a:t>
            </a:r>
            <a:r>
              <a:rPr lang="ko-KR" altLang="en-US" dirty="0"/>
              <a:t>평가 </a:t>
            </a:r>
            <a:r>
              <a:rPr lang="en-US" altLang="ko-KR" dirty="0"/>
              <a:t>30</a:t>
            </a:r>
            <a:r>
              <a:rPr lang="ko-KR" altLang="en-US" dirty="0"/>
              <a:t>판 수행</a:t>
            </a:r>
          </a:p>
          <a:p>
            <a:pPr>
              <a:buFontTx/>
              <a:buChar char="-"/>
            </a:pPr>
            <a:r>
              <a:rPr lang="en-US" altLang="ko-KR" dirty="0"/>
              <a:t>Iter 17 </a:t>
            </a:r>
            <a:r>
              <a:rPr lang="ko-KR" altLang="en-US" dirty="0"/>
              <a:t>도중 </a:t>
            </a:r>
            <a:r>
              <a:rPr lang="en-US" altLang="ko-KR" b="1" dirty="0"/>
              <a:t>CUDA out of memory </a:t>
            </a:r>
            <a:r>
              <a:rPr lang="ko-KR" altLang="en-US" b="1" dirty="0"/>
              <a:t>오류</a:t>
            </a:r>
            <a:r>
              <a:rPr lang="ko-KR" altLang="en-US" dirty="0"/>
              <a:t> 발생으로 학습 종료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17</a:t>
            </a:r>
            <a:r>
              <a:rPr lang="ko-KR" altLang="en-US" dirty="0"/>
              <a:t>번째 </a:t>
            </a:r>
            <a:r>
              <a:rPr lang="en-US" altLang="ko-KR" dirty="0"/>
              <a:t>iteration </a:t>
            </a:r>
            <a:r>
              <a:rPr lang="ko-KR" altLang="en-US" dirty="0"/>
              <a:t>모델</a:t>
            </a:r>
            <a:r>
              <a:rPr lang="en-US" altLang="ko-KR" dirty="0"/>
              <a:t>(best.pth.tar)</a:t>
            </a:r>
            <a:r>
              <a:rPr lang="ko-KR" altLang="en-US" dirty="0"/>
              <a:t>을 최종 버전으로 채택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0390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F65DEE-1E67-8050-1F42-E65192C97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로그 요약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50ED01B8-BCE2-CB52-E677-3A3D65A45F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8933742"/>
              </p:ext>
            </p:extLst>
          </p:nvPr>
        </p:nvGraphicFramePr>
        <p:xfrm>
          <a:off x="860323" y="4698762"/>
          <a:ext cx="10058400" cy="18288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1745909725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89849385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37147749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418355239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2766364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Loss_pi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Loss_v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승률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신규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이전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122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2.6 → 1.3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0.8 → 0.36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23 / 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채택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3959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1.5 → 1.0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0.53 → 0.27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20 / 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채택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1891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1.1 → 0.97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0.43 → 0.27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18 / 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채택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3444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4~17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점진적 수렴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안정적 학습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최종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2723703"/>
                  </a:ext>
                </a:extLst>
              </a:tr>
            </a:tbl>
          </a:graphicData>
        </a:graphic>
      </p:graphicFrame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F5CE71-367C-C8C2-6D4E-0507A957C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568" y="1903136"/>
            <a:ext cx="5385351" cy="2465949"/>
          </a:xfrm>
          <a:prstGeom prst="rect">
            <a:avLst/>
          </a:prstGeom>
        </p:spPr>
      </p:pic>
      <p:pic>
        <p:nvPicPr>
          <p:cNvPr id="6" name="그림 5" descr="텍스트, 스크린샷, 멀티미디어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234F07-FA21-BAF9-DCE6-91EA43776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622" y="1903137"/>
            <a:ext cx="5345256" cy="2465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180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E5A06C-8858-AA42-9980-649768540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752" y="327316"/>
            <a:ext cx="10058400" cy="1609344"/>
          </a:xfrm>
        </p:spPr>
        <p:txBody>
          <a:bodyPr/>
          <a:lstStyle/>
          <a:p>
            <a:r>
              <a:rPr lang="ko-KR" altLang="en-US" dirty="0"/>
              <a:t>평가 실험 설정 </a:t>
            </a:r>
            <a:r>
              <a:rPr lang="en-US" altLang="ko-KR" sz="4000" dirty="0"/>
              <a:t>(Evaluation metric)</a:t>
            </a:r>
            <a:endParaRPr lang="ko-KR" alt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AC70A63-6DBF-446E-5F5E-B73195DDE86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3752" y="1524591"/>
            <a:ext cx="6667210" cy="26161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평가 스크립트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eval_othello.py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탐색 알고리즘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MCTS (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simulations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=200,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cpuct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=1.0,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temp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=0.0)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평가 게임 수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평가 기준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승률(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WinRate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), 무승부율(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DrawRate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평가 상대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Random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Greedy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Checkpoint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(이전 모델),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Human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실험 결과 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ko-K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8CAB4FF-A8CC-62ED-E71A-DE59586F1A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150240"/>
              </p:ext>
            </p:extLst>
          </p:nvPr>
        </p:nvGraphicFramePr>
        <p:xfrm>
          <a:off x="1063752" y="3721608"/>
          <a:ext cx="10058400" cy="26517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414014436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4080890997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163087367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3352072776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39704479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대전 상대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승률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무승부율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6556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 err="1"/>
                        <a:t>유효수</a:t>
                      </a:r>
                      <a:r>
                        <a:rPr lang="ko-KR" altLang="en-US" dirty="0"/>
                        <a:t> 중 임의 선택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b="1" dirty="0"/>
                        <a:t>100%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완승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9960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Greedy (1-step)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돌 개수 최대화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b="1" dirty="0"/>
                        <a:t>99~100%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휴리스틱 완전 제압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0268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Checkpoint_16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이전 모델과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b="1"/>
                        <a:t>61%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개선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712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Human (Console Play)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직접 대전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White 29 : Black 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AI </a:t>
                      </a:r>
                      <a:r>
                        <a:rPr lang="ko-KR" altLang="en-US" dirty="0"/>
                        <a:t>승리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072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1602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A3BA-9020-1FB4-721D-2B1D7A9B6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평가 결과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8FE3D3F1-ED3A-E746-C009-E270C74553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31701"/>
          <a:stretch>
            <a:fillRect/>
          </a:stretch>
        </p:blipFill>
        <p:spPr>
          <a:xfrm>
            <a:off x="80527" y="2060219"/>
            <a:ext cx="6418596" cy="117893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6D75D76-80D0-59C2-118B-F0140EFB3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27" y="3669563"/>
            <a:ext cx="6293730" cy="16093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ECF266-954B-C12C-804A-B21BACA927D5}"/>
              </a:ext>
            </a:extLst>
          </p:cNvPr>
          <p:cNvSpPr txBox="1"/>
          <p:nvPr/>
        </p:nvSpPr>
        <p:spPr>
          <a:xfrm>
            <a:off x="6626942" y="2060219"/>
            <a:ext cx="61531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Random Agent vs </a:t>
            </a:r>
            <a:r>
              <a:rPr lang="ko-KR" altLang="en-US" sz="1400" b="1" dirty="0"/>
              <a:t>학습 모델</a:t>
            </a:r>
          </a:p>
          <a:p>
            <a:r>
              <a:rPr lang="ko-KR" altLang="en-US" sz="1400" b="1" dirty="0"/>
              <a:t>설정</a:t>
            </a:r>
            <a:r>
              <a:rPr lang="en-US" altLang="ko-KR" sz="1400" b="1" dirty="0"/>
              <a:t>:</a:t>
            </a:r>
            <a:r>
              <a:rPr lang="ko-KR" altLang="en-US" sz="1400" dirty="0"/>
              <a:t> </a:t>
            </a:r>
            <a:r>
              <a:rPr lang="en-US" altLang="ko-KR" sz="1400" dirty="0"/>
              <a:t>6×6 </a:t>
            </a:r>
            <a:r>
              <a:rPr lang="ko-KR" altLang="en-US" sz="1400" dirty="0" err="1"/>
              <a:t>오셀로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/>
              <a:t>시뮬레이션 </a:t>
            </a:r>
            <a:r>
              <a:rPr lang="en-US" altLang="ko-KR" sz="1400" dirty="0"/>
              <a:t>200</a:t>
            </a:r>
            <a:r>
              <a:rPr lang="ko-KR" altLang="en-US" sz="1400" dirty="0"/>
              <a:t>회 </a:t>
            </a:r>
            <a:r>
              <a:rPr lang="en-US" altLang="ko-KR" sz="1400" dirty="0"/>
              <a:t>/ Agent2 = Random</a:t>
            </a:r>
          </a:p>
          <a:p>
            <a:r>
              <a:rPr lang="ko-KR" altLang="en-US" sz="1400" b="1" dirty="0"/>
              <a:t>결과</a:t>
            </a:r>
            <a:r>
              <a:rPr lang="en-US" altLang="ko-KR" sz="1400" b="1" dirty="0"/>
              <a:t>:</a:t>
            </a:r>
            <a:endParaRPr lang="ko-KR" altLang="en-US" sz="1400" dirty="0"/>
          </a:p>
          <a:p>
            <a:pPr lvl="1"/>
            <a:r>
              <a:rPr lang="en-US" altLang="ko-KR" sz="1400" dirty="0"/>
              <a:t>P1(</a:t>
            </a:r>
            <a:r>
              <a:rPr lang="ko-KR" altLang="en-US" sz="1400" dirty="0"/>
              <a:t>학습 모델</a:t>
            </a:r>
            <a:r>
              <a:rPr lang="en-US" altLang="ko-KR" sz="1400" dirty="0"/>
              <a:t>) </a:t>
            </a:r>
            <a:r>
              <a:rPr lang="ko-KR" altLang="en-US" sz="1400" dirty="0"/>
              <a:t>승</a:t>
            </a:r>
            <a:r>
              <a:rPr lang="en-US" altLang="ko-KR" sz="1400" dirty="0"/>
              <a:t>: 100 / </a:t>
            </a:r>
            <a:r>
              <a:rPr lang="ko-KR" altLang="en-US" sz="1400" dirty="0"/>
              <a:t>패</a:t>
            </a:r>
            <a:r>
              <a:rPr lang="en-US" altLang="ko-KR" sz="1400" dirty="0"/>
              <a:t>: 0 / </a:t>
            </a:r>
            <a:r>
              <a:rPr lang="ko-KR" altLang="en-US" sz="1400" dirty="0"/>
              <a:t>무승부</a:t>
            </a:r>
            <a:r>
              <a:rPr lang="en-US" altLang="ko-KR" sz="1400" dirty="0"/>
              <a:t>: 0</a:t>
            </a:r>
          </a:p>
          <a:p>
            <a:pPr lvl="1"/>
            <a:r>
              <a:rPr lang="ko-KR" altLang="en-US" sz="1400" b="1" dirty="0"/>
              <a:t>승률 </a:t>
            </a:r>
            <a:r>
              <a:rPr lang="en-US" altLang="ko-KR" sz="1400" b="1" dirty="0"/>
              <a:t>100%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73C07F-8B6F-3957-2DB1-FB6D5081CB12}"/>
              </a:ext>
            </a:extLst>
          </p:cNvPr>
          <p:cNvSpPr txBox="1"/>
          <p:nvPr/>
        </p:nvSpPr>
        <p:spPr>
          <a:xfrm>
            <a:off x="6626942" y="3805085"/>
            <a:ext cx="50046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Greedy Agent vs </a:t>
            </a:r>
            <a:r>
              <a:rPr lang="ko-KR" altLang="en-US" sz="1400" b="1" dirty="0"/>
              <a:t>학습 모델 </a:t>
            </a:r>
            <a:r>
              <a:rPr lang="en-US" altLang="ko-KR" sz="1400" b="1" dirty="0"/>
              <a:t>(sim=200)</a:t>
            </a:r>
          </a:p>
          <a:p>
            <a:r>
              <a:rPr lang="ko-KR" altLang="en-US" sz="1400" b="1" dirty="0"/>
              <a:t>설정</a:t>
            </a:r>
            <a:r>
              <a:rPr lang="en-US" altLang="ko-KR" sz="1400" b="1" dirty="0"/>
              <a:t>:</a:t>
            </a:r>
            <a:r>
              <a:rPr lang="ko-KR" altLang="en-US" sz="1400" dirty="0"/>
              <a:t> </a:t>
            </a:r>
            <a:r>
              <a:rPr lang="en-US" altLang="ko-KR" sz="1400" dirty="0"/>
              <a:t>6×6 / </a:t>
            </a:r>
            <a:r>
              <a:rPr lang="ko-KR" altLang="en-US" sz="1400" dirty="0"/>
              <a:t>시뮬레이션 </a:t>
            </a:r>
            <a:r>
              <a:rPr lang="en-US" altLang="ko-KR" sz="1400" dirty="0"/>
              <a:t>200 / Agent2 = Greedy (</a:t>
            </a:r>
            <a:r>
              <a:rPr lang="ko-KR" altLang="en-US" sz="1400" dirty="0"/>
              <a:t>휴리스틱</a:t>
            </a:r>
            <a:r>
              <a:rPr lang="en-US" altLang="ko-KR" sz="1400" dirty="0"/>
              <a:t>)</a:t>
            </a:r>
          </a:p>
          <a:p>
            <a:r>
              <a:rPr lang="ko-KR" altLang="en-US" sz="1400" b="1" dirty="0"/>
              <a:t>결과</a:t>
            </a:r>
            <a:r>
              <a:rPr lang="en-US" altLang="ko-KR" sz="1400" b="1" dirty="0"/>
              <a:t>:</a:t>
            </a:r>
            <a:endParaRPr lang="ko-KR" altLang="en-US" sz="1400" dirty="0"/>
          </a:p>
          <a:p>
            <a:pPr lvl="1"/>
            <a:r>
              <a:rPr lang="en-US" altLang="ko-KR" sz="1400" dirty="0"/>
              <a:t>P1 </a:t>
            </a:r>
            <a:r>
              <a:rPr lang="ko-KR" altLang="en-US" sz="1400" dirty="0"/>
              <a:t>승</a:t>
            </a:r>
            <a:r>
              <a:rPr lang="en-US" altLang="ko-KR" sz="1400" dirty="0"/>
              <a:t>: 100 / </a:t>
            </a:r>
            <a:r>
              <a:rPr lang="ko-KR" altLang="en-US" sz="1400" dirty="0"/>
              <a:t>패</a:t>
            </a:r>
            <a:r>
              <a:rPr lang="en-US" altLang="ko-KR" sz="1400" dirty="0"/>
              <a:t>: 0</a:t>
            </a:r>
          </a:p>
          <a:p>
            <a:pPr lvl="1"/>
            <a:r>
              <a:rPr lang="ko-KR" altLang="en-US" sz="1400" b="1" dirty="0"/>
              <a:t>승률 </a:t>
            </a:r>
            <a:r>
              <a:rPr lang="en-US" altLang="ko-KR" sz="1400" b="1" dirty="0"/>
              <a:t>100%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7913279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585EAA-99FD-556D-C1BB-C6572F1D0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평가 결과</a:t>
            </a:r>
          </a:p>
        </p:txBody>
      </p:sp>
      <p:pic>
        <p:nvPicPr>
          <p:cNvPr id="4" name="내용 개체 틀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E661B0-598E-ED5E-2A81-476DF5319E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743" y="1956620"/>
            <a:ext cx="7173051" cy="19656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137BDA2-5AFA-DA21-C15C-AF799545F829}"/>
              </a:ext>
            </a:extLst>
          </p:cNvPr>
          <p:cNvSpPr txBox="1"/>
          <p:nvPr/>
        </p:nvSpPr>
        <p:spPr>
          <a:xfrm>
            <a:off x="7482348" y="1917290"/>
            <a:ext cx="447367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Greedy Agent vs </a:t>
            </a:r>
            <a:r>
              <a:rPr lang="ko-KR" altLang="en-US" b="1" dirty="0"/>
              <a:t>학습 모델 </a:t>
            </a:r>
            <a:r>
              <a:rPr lang="en-US" altLang="ko-KR" b="1" dirty="0"/>
              <a:t>(sim=50)</a:t>
            </a:r>
          </a:p>
          <a:p>
            <a:r>
              <a:rPr lang="ko-KR" altLang="en-US" b="1" dirty="0"/>
              <a:t>설정</a:t>
            </a:r>
            <a:r>
              <a:rPr lang="en-US" altLang="ko-KR" b="1" dirty="0"/>
              <a:t>:</a:t>
            </a:r>
            <a:r>
              <a:rPr lang="ko-KR" altLang="en-US" dirty="0"/>
              <a:t> 시뮬레이션 수를 </a:t>
            </a:r>
            <a:r>
              <a:rPr lang="en-US" altLang="ko-KR" dirty="0"/>
              <a:t>50</a:t>
            </a:r>
            <a:r>
              <a:rPr lang="ko-KR" altLang="en-US" dirty="0"/>
              <a:t>으로 축소</a:t>
            </a:r>
          </a:p>
          <a:p>
            <a:r>
              <a:rPr lang="ko-KR" altLang="en-US" b="1" dirty="0"/>
              <a:t>결과</a:t>
            </a:r>
            <a:r>
              <a:rPr lang="en-US" altLang="ko-KR" b="1" dirty="0"/>
              <a:t>:</a:t>
            </a:r>
            <a:endParaRPr lang="ko-KR" altLang="en-US" dirty="0"/>
          </a:p>
          <a:p>
            <a:pPr lvl="1"/>
            <a:r>
              <a:rPr lang="en-US" altLang="ko-KR" dirty="0"/>
              <a:t>P1 </a:t>
            </a:r>
            <a:r>
              <a:rPr lang="ko-KR" altLang="en-US" dirty="0"/>
              <a:t>승</a:t>
            </a:r>
            <a:r>
              <a:rPr lang="en-US" altLang="ko-KR" dirty="0"/>
              <a:t>: 99 / </a:t>
            </a:r>
            <a:r>
              <a:rPr lang="ko-KR" altLang="en-US" dirty="0"/>
              <a:t>패</a:t>
            </a:r>
            <a:r>
              <a:rPr lang="en-US" altLang="ko-KR" dirty="0"/>
              <a:t>: 1</a:t>
            </a:r>
          </a:p>
          <a:p>
            <a:pPr lvl="1"/>
            <a:r>
              <a:rPr lang="ko-KR" altLang="en-US" b="1" dirty="0"/>
              <a:t>승률 </a:t>
            </a:r>
            <a:r>
              <a:rPr lang="en-US" altLang="ko-KR" b="1" dirty="0"/>
              <a:t>99%</a:t>
            </a:r>
            <a:endParaRPr lang="ko-KR" altLang="en-US" dirty="0"/>
          </a:p>
          <a:p>
            <a:r>
              <a:rPr lang="ko-KR" altLang="en-US" b="1" dirty="0"/>
              <a:t>의미</a:t>
            </a:r>
            <a:r>
              <a:rPr lang="en-US" altLang="ko-KR" b="1" dirty="0"/>
              <a:t>:</a:t>
            </a:r>
            <a:br>
              <a:rPr lang="ko-KR" altLang="en-US" dirty="0"/>
            </a:br>
            <a:r>
              <a:rPr lang="ko-KR" altLang="en-US" dirty="0"/>
              <a:t>→ 탐색 횟수를 줄여도 성능 유지</a:t>
            </a:r>
            <a:r>
              <a:rPr lang="en-US" altLang="ko-KR" dirty="0"/>
              <a:t>.</a:t>
            </a:r>
          </a:p>
        </p:txBody>
      </p:sp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41FBCF1-ACE9-0DC4-8F6D-E9A965257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43" y="4322251"/>
            <a:ext cx="6839512" cy="19656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78C54C-9D4D-C897-4246-0F7E961840D7}"/>
              </a:ext>
            </a:extLst>
          </p:cNvPr>
          <p:cNvSpPr txBox="1"/>
          <p:nvPr/>
        </p:nvSpPr>
        <p:spPr>
          <a:xfrm>
            <a:off x="7164475" y="4322251"/>
            <a:ext cx="479155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Greedy Agent vs </a:t>
            </a:r>
            <a:r>
              <a:rPr lang="ko-KR" altLang="en-US" sz="1400" b="1" dirty="0"/>
              <a:t>학습 모델 </a:t>
            </a:r>
            <a:r>
              <a:rPr lang="en-US" altLang="ko-KR" sz="1400" b="1" dirty="0"/>
              <a:t>(sim=200, temp=1.0)</a:t>
            </a:r>
          </a:p>
          <a:p>
            <a:r>
              <a:rPr lang="ko-KR" altLang="en-US" sz="1400" b="1" dirty="0"/>
              <a:t>설정</a:t>
            </a:r>
            <a:r>
              <a:rPr lang="en-US" altLang="ko-KR" sz="1400" b="1" dirty="0"/>
              <a:t>:</a:t>
            </a:r>
            <a:r>
              <a:rPr lang="ko-KR" altLang="en-US" sz="1400" dirty="0"/>
              <a:t> 온도</a:t>
            </a:r>
            <a:r>
              <a:rPr lang="en-US" altLang="ko-KR" sz="1400" dirty="0"/>
              <a:t>(temperature) = 1.0 (</a:t>
            </a:r>
            <a:r>
              <a:rPr lang="ko-KR" altLang="en-US" sz="1400" dirty="0"/>
              <a:t>조금 더 </a:t>
            </a:r>
            <a:r>
              <a:rPr lang="ko-KR" altLang="en-US" sz="1400" dirty="0" err="1"/>
              <a:t>랜덤성</a:t>
            </a:r>
            <a:r>
              <a:rPr lang="ko-KR" altLang="en-US" sz="1400" dirty="0"/>
              <a:t> 부여</a:t>
            </a:r>
            <a:r>
              <a:rPr lang="en-US" altLang="ko-KR" sz="1400" dirty="0"/>
              <a:t>)</a:t>
            </a:r>
          </a:p>
          <a:p>
            <a:r>
              <a:rPr lang="ko-KR" altLang="en-US" sz="1400" b="1" dirty="0"/>
              <a:t>결과</a:t>
            </a:r>
            <a:r>
              <a:rPr lang="en-US" altLang="ko-KR" sz="1400" b="1" dirty="0"/>
              <a:t>:</a:t>
            </a:r>
            <a:endParaRPr lang="ko-KR" altLang="en-US" sz="1400" dirty="0"/>
          </a:p>
          <a:p>
            <a:pPr lvl="1"/>
            <a:r>
              <a:rPr lang="en-US" altLang="ko-KR" sz="1400" dirty="0"/>
              <a:t>P1 </a:t>
            </a:r>
            <a:r>
              <a:rPr lang="ko-KR" altLang="en-US" sz="1400" dirty="0"/>
              <a:t>승</a:t>
            </a:r>
            <a:r>
              <a:rPr lang="en-US" altLang="ko-KR" sz="1400" dirty="0"/>
              <a:t>: 100 / </a:t>
            </a:r>
            <a:r>
              <a:rPr lang="ko-KR" altLang="en-US" sz="1400" dirty="0"/>
              <a:t>패</a:t>
            </a:r>
            <a:r>
              <a:rPr lang="en-US" altLang="ko-KR" sz="1400" dirty="0"/>
              <a:t>: 0</a:t>
            </a:r>
          </a:p>
          <a:p>
            <a:pPr lvl="1"/>
            <a:r>
              <a:rPr lang="ko-KR" altLang="en-US" sz="1400" b="1" dirty="0"/>
              <a:t>승률 </a:t>
            </a:r>
            <a:r>
              <a:rPr lang="en-US" altLang="ko-KR" sz="1400" b="1" dirty="0"/>
              <a:t>100%</a:t>
            </a:r>
            <a:endParaRPr lang="ko-KR" altLang="en-US" sz="1400" dirty="0"/>
          </a:p>
          <a:p>
            <a:r>
              <a:rPr lang="ko-KR" altLang="en-US" sz="1400" b="1" dirty="0"/>
              <a:t>의미</a:t>
            </a:r>
            <a:r>
              <a:rPr lang="en-US" altLang="ko-KR" sz="1400" b="1" dirty="0"/>
              <a:t>:</a:t>
            </a:r>
            <a:br>
              <a:rPr lang="ko-KR" altLang="en-US" sz="1400" dirty="0"/>
            </a:br>
            <a:r>
              <a:rPr lang="ko-KR" altLang="en-US" sz="1400" dirty="0"/>
              <a:t>→ 행동 선택에 일부 확률적 요소를 주어도 여전히 완승</a:t>
            </a:r>
            <a:r>
              <a:rPr lang="en-US" altLang="ko-KR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8732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0E74BB-00EC-2208-1940-8CBE4AE59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평가 결과</a:t>
            </a:r>
          </a:p>
        </p:txBody>
      </p:sp>
      <p:pic>
        <p:nvPicPr>
          <p:cNvPr id="4" name="내용 개체 틀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3291D13-8F89-42F1-BD7A-23633D5AA8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671" y="1778557"/>
            <a:ext cx="7131308" cy="23511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270A80-3686-8AC9-1402-7356EAE7F61E}"/>
              </a:ext>
            </a:extLst>
          </p:cNvPr>
          <p:cNvSpPr txBox="1"/>
          <p:nvPr/>
        </p:nvSpPr>
        <p:spPr>
          <a:xfrm>
            <a:off x="7496070" y="1617785"/>
            <a:ext cx="4572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Checkpoint 16 vs Best Model (</a:t>
            </a:r>
            <a:r>
              <a:rPr lang="ko-KR" altLang="en-US" sz="1600" b="1" dirty="0"/>
              <a:t>내적 평가</a:t>
            </a:r>
            <a:r>
              <a:rPr lang="en-US" altLang="ko-KR" sz="1600" b="1" dirty="0"/>
              <a:t>)</a:t>
            </a:r>
          </a:p>
          <a:p>
            <a:r>
              <a:rPr lang="ko-KR" altLang="en-US" sz="1600" b="1" dirty="0"/>
              <a:t>설정</a:t>
            </a:r>
            <a:r>
              <a:rPr lang="en-US" altLang="ko-KR" sz="1600" b="1" dirty="0"/>
              <a:t>:</a:t>
            </a:r>
            <a:r>
              <a:rPr lang="ko-KR" altLang="en-US" sz="1600" dirty="0"/>
              <a:t> 학습 </a:t>
            </a:r>
            <a:r>
              <a:rPr lang="en-US" altLang="ko-KR" sz="1600" dirty="0"/>
              <a:t>17 iter </a:t>
            </a:r>
            <a:r>
              <a:rPr lang="ko-KR" altLang="en-US" sz="1600" dirty="0"/>
              <a:t>중</a:t>
            </a:r>
            <a:r>
              <a:rPr lang="en-US" altLang="ko-KR" sz="1600" dirty="0"/>
              <a:t>, Iter 16 </a:t>
            </a:r>
            <a:r>
              <a:rPr lang="ko-KR" altLang="en-US" sz="1600" dirty="0"/>
              <a:t>모델과 최종 모델 비교</a:t>
            </a:r>
          </a:p>
          <a:p>
            <a:r>
              <a:rPr lang="ko-KR" altLang="en-US" sz="1600" b="1" dirty="0"/>
              <a:t>결과</a:t>
            </a:r>
            <a:r>
              <a:rPr lang="en-US" altLang="ko-KR" sz="1600" b="1" dirty="0"/>
              <a:t>:</a:t>
            </a:r>
            <a:endParaRPr lang="ko-KR" altLang="en-US" sz="1600" dirty="0"/>
          </a:p>
          <a:p>
            <a:pPr lvl="1"/>
            <a:r>
              <a:rPr lang="en-US" altLang="ko-KR" sz="1600" dirty="0"/>
              <a:t>Best(17 iter) </a:t>
            </a:r>
            <a:r>
              <a:rPr lang="ko-KR" altLang="en-US" sz="1600" dirty="0"/>
              <a:t>승</a:t>
            </a:r>
            <a:r>
              <a:rPr lang="en-US" altLang="ko-KR" sz="1600" dirty="0"/>
              <a:t>: 61 / Checkpoint_16 </a:t>
            </a:r>
            <a:r>
              <a:rPr lang="ko-KR" altLang="en-US" sz="1600" dirty="0"/>
              <a:t>승</a:t>
            </a:r>
            <a:r>
              <a:rPr lang="en-US" altLang="ko-KR" sz="1600" dirty="0"/>
              <a:t>: 39</a:t>
            </a:r>
          </a:p>
          <a:p>
            <a:pPr lvl="1"/>
            <a:r>
              <a:rPr lang="ko-KR" altLang="en-US" sz="1600" b="1" dirty="0"/>
              <a:t>승률 </a:t>
            </a:r>
            <a:r>
              <a:rPr lang="en-US" altLang="ko-KR" sz="1600" b="1" dirty="0"/>
              <a:t>61%</a:t>
            </a:r>
            <a:endParaRPr lang="ko-KR" altLang="en-US" sz="1600" dirty="0"/>
          </a:p>
          <a:p>
            <a:r>
              <a:rPr lang="ko-KR" altLang="en-US" sz="1600" b="1" dirty="0"/>
              <a:t>의미</a:t>
            </a:r>
            <a:r>
              <a:rPr lang="en-US" altLang="ko-KR" sz="1600" b="1" dirty="0"/>
              <a:t>:</a:t>
            </a:r>
            <a:br>
              <a:rPr lang="ko-KR" altLang="en-US" sz="1600" dirty="0"/>
            </a:br>
            <a:r>
              <a:rPr lang="ko-KR" altLang="en-US" sz="1600" dirty="0"/>
              <a:t>→ 최종 모델이 이전 버전보다 지속적으로 향상됨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en-US" altLang="ko-KR" sz="1600" dirty="0"/>
              <a:t>self-play </a:t>
            </a:r>
            <a:r>
              <a:rPr lang="ko-KR" altLang="en-US" sz="1600" dirty="0"/>
              <a:t>학습이 점진적 개선을 이끌었음을 확인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6A9EC1-F6D0-8787-1D35-26171B63F3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626"/>
          <a:stretch>
            <a:fillRect/>
          </a:stretch>
        </p:blipFill>
        <p:spPr>
          <a:xfrm>
            <a:off x="548738" y="4208356"/>
            <a:ext cx="4556232" cy="25759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086C83-0E73-B6F9-1565-8EA839BA3226}"/>
              </a:ext>
            </a:extLst>
          </p:cNvPr>
          <p:cNvSpPr txBox="1"/>
          <p:nvPr/>
        </p:nvSpPr>
        <p:spPr>
          <a:xfrm>
            <a:off x="5742039" y="4342145"/>
            <a:ext cx="46801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Human vs AI (</a:t>
            </a:r>
            <a:r>
              <a:rPr lang="ko-KR" altLang="en-US" sz="1600" b="1" dirty="0"/>
              <a:t>직접 대전</a:t>
            </a:r>
            <a:r>
              <a:rPr lang="en-US" altLang="ko-KR" sz="1600" b="1" dirty="0"/>
              <a:t>)</a:t>
            </a:r>
          </a:p>
          <a:p>
            <a:r>
              <a:rPr lang="ko-KR" altLang="en-US" sz="1600" b="1" dirty="0"/>
              <a:t>설정</a:t>
            </a:r>
            <a:r>
              <a:rPr lang="en-US" altLang="ko-KR" sz="1600" b="1" dirty="0"/>
              <a:t>:</a:t>
            </a:r>
            <a:r>
              <a:rPr lang="ko-KR" altLang="en-US" sz="1600" dirty="0"/>
              <a:t> 콘솔에서 직접 입력으로 대전</a:t>
            </a:r>
          </a:p>
          <a:p>
            <a:r>
              <a:rPr lang="ko-KR" altLang="en-US" sz="1600" b="1" dirty="0"/>
              <a:t>결과</a:t>
            </a:r>
            <a:r>
              <a:rPr lang="en-US" altLang="ko-KR" sz="1600" b="1" dirty="0"/>
              <a:t>:</a:t>
            </a:r>
            <a:endParaRPr lang="ko-KR" altLang="en-US" sz="1600" dirty="0"/>
          </a:p>
          <a:p>
            <a:pPr lvl="1"/>
            <a:r>
              <a:rPr lang="ko-KR" altLang="en-US" sz="1600" dirty="0"/>
              <a:t>사람</a:t>
            </a:r>
            <a:r>
              <a:rPr lang="en-US" altLang="ko-KR" sz="1600" dirty="0"/>
              <a:t>(Black) </a:t>
            </a:r>
            <a:r>
              <a:rPr lang="ko-KR" altLang="en-US" sz="1600" dirty="0"/>
              <a:t>돌 </a:t>
            </a:r>
            <a:r>
              <a:rPr lang="en-US" altLang="ko-KR" sz="1600" dirty="0"/>
              <a:t>7</a:t>
            </a:r>
            <a:r>
              <a:rPr lang="ko-KR" altLang="en-US" sz="1600" dirty="0"/>
              <a:t>개 </a:t>
            </a:r>
            <a:r>
              <a:rPr lang="en-US" altLang="ko-KR" sz="1600" dirty="0"/>
              <a:t>/ AI(White) </a:t>
            </a:r>
            <a:r>
              <a:rPr lang="ko-KR" altLang="en-US" sz="1600" dirty="0"/>
              <a:t>돌 </a:t>
            </a:r>
            <a:r>
              <a:rPr lang="en-US" altLang="ko-KR" sz="1600" dirty="0"/>
              <a:t>29</a:t>
            </a:r>
            <a:r>
              <a:rPr lang="ko-KR" altLang="en-US" sz="1600" dirty="0"/>
              <a:t>개</a:t>
            </a:r>
          </a:p>
          <a:p>
            <a:pPr lvl="1"/>
            <a:r>
              <a:rPr lang="en-US" altLang="ko-KR" sz="1600" dirty="0"/>
              <a:t>AI </a:t>
            </a:r>
            <a:r>
              <a:rPr lang="ko-KR" altLang="en-US" sz="1600" dirty="0"/>
              <a:t>승리</a:t>
            </a:r>
          </a:p>
          <a:p>
            <a:r>
              <a:rPr lang="ko-KR" altLang="en-US" sz="1600" b="1" dirty="0"/>
              <a:t>의미</a:t>
            </a:r>
            <a:r>
              <a:rPr lang="en-US" altLang="ko-KR" sz="1600" b="1" dirty="0"/>
              <a:t>:</a:t>
            </a:r>
            <a:br>
              <a:rPr lang="ko-KR" altLang="en-US" sz="1600" dirty="0"/>
            </a:br>
            <a:r>
              <a:rPr lang="ko-KR" altLang="en-US" sz="1600" dirty="0"/>
              <a:t>→ 인간과의 실전에서도 명확한 전략 수행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학습된 </a:t>
            </a:r>
            <a:r>
              <a:rPr lang="en-US" altLang="ko-KR" sz="1600" dirty="0"/>
              <a:t>AI</a:t>
            </a:r>
            <a:r>
              <a:rPr lang="ko-KR" altLang="en-US" sz="1600" dirty="0"/>
              <a:t>가 코너 점령 및 안정적 형태 유지를 기반으로 </a:t>
            </a:r>
            <a:r>
              <a:rPr lang="ko-KR" altLang="en-US" sz="1600" b="1" dirty="0"/>
              <a:t>사람 수준 이상</a:t>
            </a:r>
            <a:r>
              <a:rPr lang="ko-KR" altLang="en-US" sz="1600" dirty="0"/>
              <a:t>의 플레이를 보임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5024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95CBD2-E00B-765B-F729-AC1A67169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분석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C55239-CCBC-0F86-41E7-A4B3B0C9D3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610032"/>
            <a:ext cx="7609776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모델은 랜덤/휴리스틱/이전 버전 모두를 상대로 높은 승률을 보였다.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특히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Greedy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Agent와의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대전에서 100% 승률을 기록하며</a:t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단기적 이득보다 장기적 전략(코너 확보, 안정화)을 학습했음을 확인했다.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사람과의 대전에서도 전반적으로 전략적이고 일관된 수를 두며</a:t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강화학습을 통한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전략적 사고 패턴 학습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을 실증했다.</a:t>
            </a:r>
          </a:p>
        </p:txBody>
      </p:sp>
    </p:spTree>
    <p:extLst>
      <p:ext uri="{BB962C8B-B14F-4D97-AF65-F5344CB8AC3E}">
        <p14:creationId xmlns:p14="http://schemas.microsoft.com/office/powerpoint/2010/main" val="714682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20521-F644-8647-1424-7C1F162DC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6469FC-265D-A117-81DD-60D2966F3D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실험 결과에 대한 생각</a:t>
            </a:r>
            <a:endParaRPr lang="ko-KR" altLang="en-US" dirty="0"/>
          </a:p>
          <a:p>
            <a:pPr>
              <a:buFontTx/>
              <a:buChar char="-"/>
            </a:pPr>
            <a:r>
              <a:rPr lang="en-US" altLang="ko-KR" dirty="0"/>
              <a:t>Self-play</a:t>
            </a:r>
            <a:r>
              <a:rPr lang="ko-KR" altLang="en-US" dirty="0"/>
              <a:t>를 통한 강화학습이 실제 전략 게임에 적용 가능함을 확인</a:t>
            </a:r>
            <a:r>
              <a:rPr lang="en-US" altLang="ko-KR" dirty="0"/>
              <a:t>.</a:t>
            </a:r>
          </a:p>
          <a:p>
            <a:pPr>
              <a:buFontTx/>
              <a:buChar char="-"/>
            </a:pPr>
            <a:r>
              <a:rPr lang="ko-KR" altLang="en-US" dirty="0"/>
              <a:t>단순 규칙 기반 탐욕적 전략보다 우월한 결과 달성</a:t>
            </a:r>
            <a:r>
              <a:rPr lang="en-US" altLang="ko-KR" dirty="0"/>
              <a:t>.</a:t>
            </a:r>
          </a:p>
          <a:p>
            <a:pPr>
              <a:buFontTx/>
              <a:buChar char="-"/>
            </a:pPr>
            <a:r>
              <a:rPr lang="ko-KR" altLang="en-US" dirty="0"/>
              <a:t>학습 </a:t>
            </a:r>
            <a:r>
              <a:rPr lang="en-US" altLang="ko-KR" dirty="0"/>
              <a:t>iteration</a:t>
            </a:r>
            <a:r>
              <a:rPr lang="ko-KR" altLang="en-US" dirty="0"/>
              <a:t>이 늘어날수록 정책의 안정성이 향상됨</a:t>
            </a:r>
            <a:r>
              <a:rPr lang="en-US" altLang="ko-KR" dirty="0"/>
              <a:t>.</a:t>
            </a:r>
          </a:p>
          <a:p>
            <a:pPr>
              <a:buFontTx/>
              <a:buChar char="-"/>
            </a:pPr>
            <a:endParaRPr lang="en-US" altLang="ko-KR" dirty="0"/>
          </a:p>
          <a:p>
            <a:r>
              <a:rPr lang="ko-KR" altLang="en-US" b="1" dirty="0"/>
              <a:t>한계 및 개선사항</a:t>
            </a:r>
            <a:endParaRPr lang="ko-KR" altLang="en-US" dirty="0"/>
          </a:p>
          <a:p>
            <a:pPr>
              <a:buFontTx/>
              <a:buChar char="-"/>
            </a:pPr>
            <a:r>
              <a:rPr lang="en-US" altLang="ko-KR" dirty="0"/>
              <a:t>CUDA </a:t>
            </a:r>
            <a:r>
              <a:rPr lang="ko-KR" altLang="en-US" dirty="0"/>
              <a:t>메모리 한계로 </a:t>
            </a:r>
            <a:r>
              <a:rPr lang="en-US" altLang="ko-KR" dirty="0"/>
              <a:t>24 iteration</a:t>
            </a:r>
            <a:r>
              <a:rPr lang="ko-KR" altLang="en-US" dirty="0"/>
              <a:t>까지 학습 불가</a:t>
            </a:r>
            <a:r>
              <a:rPr lang="en-US" altLang="ko-KR" dirty="0"/>
              <a:t>.</a:t>
            </a:r>
          </a:p>
          <a:p>
            <a:pPr>
              <a:buFontTx/>
              <a:buChar char="-"/>
            </a:pPr>
            <a:r>
              <a:rPr lang="en-US" altLang="ko-KR" dirty="0"/>
              <a:t>8×8 </a:t>
            </a:r>
            <a:r>
              <a:rPr lang="ko-KR" altLang="en-US" dirty="0" err="1"/>
              <a:t>오셀로나</a:t>
            </a:r>
            <a:r>
              <a:rPr lang="ko-KR" altLang="en-US" dirty="0"/>
              <a:t> 더 큰 보드에서는 메모리 관리 및 </a:t>
            </a:r>
            <a:r>
              <a:rPr lang="en-US" altLang="ko-KR" dirty="0"/>
              <a:t>GPU</a:t>
            </a:r>
            <a:r>
              <a:rPr lang="ko-KR" altLang="en-US" dirty="0"/>
              <a:t> 사용 필요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11439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목판">
  <a:themeElements>
    <a:clrScheme name="목판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목판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목판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TM03090434[[fn=목판]]</Template>
  <TotalTime>459</TotalTime>
  <Words>1066</Words>
  <Application>Microsoft Office PowerPoint</Application>
  <PresentationFormat>와이드스크린</PresentationFormat>
  <Paragraphs>189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Arial Unicode MS</vt:lpstr>
      <vt:lpstr>Arial</vt:lpstr>
      <vt:lpstr>Calibri</vt:lpstr>
      <vt:lpstr>Rockwell</vt:lpstr>
      <vt:lpstr>Rockwell Condensed</vt:lpstr>
      <vt:lpstr>Rockwell Extra Bold</vt:lpstr>
      <vt:lpstr>Wingdings</vt:lpstr>
      <vt:lpstr>목판</vt:lpstr>
      <vt:lpstr>MyKingdom</vt:lpstr>
      <vt:lpstr>프로젝트 주제</vt:lpstr>
      <vt:lpstr>오셀로(Othello) 게임 소개</vt:lpstr>
      <vt:lpstr>환경 및 데이터셋 설명</vt:lpstr>
      <vt:lpstr>State, Action, Reward 설계</vt:lpstr>
      <vt:lpstr>강화학습 알고리즘 및 하이퍼파라미터</vt:lpstr>
      <vt:lpstr>학습 과정</vt:lpstr>
      <vt:lpstr>학습 로그 요약</vt:lpstr>
      <vt:lpstr>평가 실험 설정 (Evaluation metric)</vt:lpstr>
      <vt:lpstr>평가 결과</vt:lpstr>
      <vt:lpstr>평가 결과</vt:lpstr>
      <vt:lpstr>평가 결과</vt:lpstr>
      <vt:lpstr>결과 분석</vt:lpstr>
      <vt:lpstr>결론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이준희</dc:creator>
  <cp:lastModifiedBy>이준희</cp:lastModifiedBy>
  <cp:revision>1</cp:revision>
  <dcterms:created xsi:type="dcterms:W3CDTF">2025-11-10T05:20:30Z</dcterms:created>
  <dcterms:modified xsi:type="dcterms:W3CDTF">2025-11-16T16:31:59Z</dcterms:modified>
</cp:coreProperties>
</file>